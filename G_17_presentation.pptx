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A8B85D-756C-4917-A251-791E0DE55E5C}">
  <a:tblStyle styleId="{D9A8B85D-756C-4917-A251-791E0DE55E5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ffcd62d89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ffcd62d89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g3dffcd62d89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ffcd62d89_2_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dffcd62d89_2_2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dffcd62d89_2_2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ffcd62d89_2_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dffcd62d89_2_4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3dffcd62d89_2_4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ffcd62d89_2_8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dffcd62d89_2_8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dffcd62d89_2_8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ffcd62d89_2_1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dffcd62d89_2_11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dffcd62d89_2_11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ffcd62d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ffcd62d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ffcd62d89_2_1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dffcd62d89_2_14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g3dffcd62d89_2_14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ffcd62d8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dffcd62d8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ffcd62d89_2_1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dffcd62d89_2_17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g3dffcd62d89_2_17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ffcd62d8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dffcd62d8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ffcd62d89_2_19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dffcd62d89_2_19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g3dffcd62d89_2_19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ffcd62d89_2_20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dffcd62d89_2_20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g3dffcd62d89_2_20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ffcd62d89_2_2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dffcd62d89_2_22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g3dffcd62d89_2_22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ffcd62d8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dffcd62d8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ffcd62d89_2_2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dffcd62d89_2_25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g3dffcd62d89_2_25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ffcd62d8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dffcd62d8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ffcd62d8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dffcd62d8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dffcd62d89_2_2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3dffcd62d89_2_26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g3dffcd62d89_2_26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dffcd62d89_2_30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g3dffcd62d89_2_30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0" name="Google Shape;390;g3dffcd62d89_2_30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dffcd62d89_0_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3dffcd62d89_0_2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g3dffcd62d89_0_2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411480" y="502920"/>
            <a:ext cx="54864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Diagnosing Kubernetes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Networking Failures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Using eBPF Kernel Traces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411480" y="29260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500"/>
              <a:buFont typeface="Calibri"/>
              <a:buNone/>
            </a:pPr>
            <a:r>
              <a:rPr b="0" i="1" lang="en" sz="15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An eBPF-Based Observability Framework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411480" y="3429000"/>
            <a:ext cx="3474720" cy="141732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02920" y="3547872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Aditya Malik (MT25011) </a:t>
            </a:r>
            <a:endParaRPr b="0" i="0" sz="1100" u="none" cap="none" strike="noStrike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· Suhani Agarwal (MT25046)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Asmit Sethy (MT25020)</a:t>
            </a:r>
            <a:endParaRPr b="0" i="0" sz="1100" u="none" cap="none" strike="noStrike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· Apoorva Chaudhary (MT25016)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Harsh Sharma (MT25023)</a:t>
            </a:r>
            <a:endParaRPr b="0" i="0" sz="1100" u="none" cap="none" strike="noStrike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1" i="0" lang="en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Group-17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6217920" y="457200"/>
            <a:ext cx="2560320" cy="9144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6217920" y="54864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GRS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6217920" y="8686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Graduate Systems Course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6263640" y="1645920"/>
            <a:ext cx="2468880" cy="7772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6263640" y="173736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5 Fault Types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6263640" y="2606040"/>
            <a:ext cx="2468880" cy="7772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6263640" y="269748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2 Scenarios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6263640" y="3566160"/>
            <a:ext cx="2468880" cy="7772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6263640" y="365760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3 eBPF Probes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April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/ 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365760" y="1188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PROBLEM &amp; MOTIVATION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Observability Gap in Kubernetes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365760" y="1005840"/>
            <a:ext cx="4023360" cy="18288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502920" y="107899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502920" y="1417320"/>
            <a:ext cx="37490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kubectl, Prometheus, Grafana say a pod is slow — not WHY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Same symptom (high latency) can be packet loss, CPU contention, or slow application code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Without kernel evidence, engineers debug the wrong component for hours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663440" y="1005840"/>
            <a:ext cx="4023360" cy="18288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800600" y="107899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Why eBPF Solves This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4800600" y="1417320"/>
            <a:ext cx="37490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Attaches directly to kernel events — no kernel changes, no pod restarts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Answers: how many packets dropped? Is TCP retransmitting?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Produces a structured elimination chain: rule out network → rule out CPU → confirm 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365760" y="3017520"/>
            <a:ext cx="8412480" cy="10058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548640" y="309067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Two parts to this project: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548640" y="33832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Part 1 — Controlled Fault Injection: </a:t>
            </a:r>
            <a:r>
              <a:rPr b="0" i="0" lang="en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5 faults injected with tc netem/stress-ng, kernel events verified against expected patterns   </a:t>
            </a:r>
            <a:r>
              <a:rPr b="1" i="0" lang="en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Part 2 — Real-World Debugging: </a:t>
            </a:r>
            <a:r>
              <a:rPr b="0" i="0" lang="en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2 hidden causes diagnosed from eBPF evidence alone, without prior knowledge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365760" y="484632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https://github.com/adi620/G17_Kubernetes_observation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/ 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365760" y="1188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365760" y="4114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Three-Layer Design — Everything Runs in Parallel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320040" y="1005840"/>
            <a:ext cx="2743200" cy="32004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320040" y="1005840"/>
            <a:ext cx="2743200" cy="384048"/>
          </a:xfrm>
          <a:prstGeom prst="rect">
            <a:avLst/>
          </a:prstGeom>
          <a:solidFill>
            <a:srgbClr val="0A2030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365760" y="102412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WORKLOAD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429768" y="1572743"/>
            <a:ext cx="118800" cy="11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576073" y="1380760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nginx web pod (nginx:stable, port 80)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429768" y="2194560"/>
            <a:ext cx="118872" cy="1188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576073" y="2020852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Traffic pod: curlimages/curl, 1 req/sec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429768" y="2816352"/>
            <a:ext cx="118872" cy="1188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576073" y="2615182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Records time_total per request → CSV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3246120" y="1005840"/>
            <a:ext cx="2743200" cy="32004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3246120" y="1005840"/>
            <a:ext cx="2743200" cy="384048"/>
          </a:xfrm>
          <a:prstGeom prst="rect">
            <a:avLst/>
          </a:prstGeom>
          <a:solidFill>
            <a:srgbClr val="0A2030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3291840" y="102412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FAULT INJECTION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3355848" y="1572768"/>
            <a:ext cx="118872" cy="1188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3575278" y="1380748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tc netem: delay / loss / reorder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3355848" y="2194560"/>
            <a:ext cx="118872" cy="1188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3575278" y="2020840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tc tbf: bandwidth cap at 1 mbit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3355848" y="2816352"/>
            <a:ext cx="118872" cy="1188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575303" y="2697419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stress-ng: 4 CPU workers via docker exec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3355848" y="3438144"/>
            <a:ext cx="118872" cy="1188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3575278" y="3342161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Dynamic veth detection — no hardcoding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6172200" y="1005840"/>
            <a:ext cx="2743200" cy="32004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6172200" y="1005840"/>
            <a:ext cx="2743200" cy="384048"/>
          </a:xfrm>
          <a:prstGeom prst="rect">
            <a:avLst/>
          </a:prstGeom>
          <a:solidFill>
            <a:srgbClr val="0A2030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6217920" y="102412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eBPF OBSERVABILITY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6281928" y="1572768"/>
            <a:ext cx="118872" cy="1188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6464799" y="1380750"/>
            <a:ext cx="2557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tcp_retransmissions.bt → RETRANSMIT events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6281928" y="2194560"/>
            <a:ext cx="118872" cy="1188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6464808" y="2066540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packet_drops.bt → reason code 82 (tc netem)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6281928" y="2816352"/>
            <a:ext cx="118872" cy="1188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6464858" y="2720332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sched_latency.bt → all process scheduler events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6281928" y="3438144"/>
            <a:ext cx="118872" cy="1188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6464808" y="3342099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Boundary markers per experiment in logs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365760" y="43434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⟵  All three layers run concurrently throughout every experiment  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502920" y="470001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C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96C7"/>
                </a:solidFill>
                <a:latin typeface="Calibri"/>
                <a:ea typeface="Calibri"/>
                <a:cs typeface="Calibri"/>
                <a:sym typeface="Calibri"/>
              </a:rPr>
              <a:t>Single command:  sudo ./run_full_pipeline_extended.sh  — 5 faults × 60s each, fully automated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/ 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365760" y="1188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365760" y="4114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the Three eBPF Probes 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365760" y="1051560"/>
            <a:ext cx="8412480" cy="1170432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365760" y="1051560"/>
            <a:ext cx="64008" cy="1170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548640" y="112471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kprobe:tcp_retransmit_skb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548640" y="141732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Fires every time TCP decides to retry a lost segment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548640" y="1764792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Count = 0  →  rules out packet loss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Count &gt; 0  →  confirms network-layer loss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4800600" y="1143000"/>
            <a:ext cx="3840480" cy="987552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4864608" y="1188720"/>
            <a:ext cx="3730752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kprobe:tcp_retransmit_skb 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printf("%lu %s RETRANSMIT\n",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nsecs, ntop(args-&gt;skb-&gt;...)); 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365760" y="2313432"/>
            <a:ext cx="8412480" cy="1170432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365760" y="2313432"/>
            <a:ext cx="64008" cy="1170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548640" y="23865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tracepoint:skb:kfree_skb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548640" y="267919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Fires when the kernel discards a packet. The reason field identifies the cause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548640" y="3026664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Reason 82 = SKB_DROP_REASON_TC_EGRESS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→ confirms tc netem dropped the packet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4800600" y="2404872"/>
            <a:ext cx="3840480" cy="987552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4864608" y="2450592"/>
            <a:ext cx="3730752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tracepoint:skb:kfree_skb 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printf("%lu  reason:%d  DROP\n",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nsecs, args-&gt;reason); 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365760" y="3575304"/>
            <a:ext cx="8412480" cy="1170432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365760" y="3575304"/>
            <a:ext cx="64008" cy="1170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548640" y="364845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tracepoint:sched:sched_stat_runtime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548640" y="3941064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Fires after each scheduling quantum for any process on the node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548640" y="4288536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High events + high runtime for stress-ng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→ confirms CPU contention as root cause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4800600" y="3666744"/>
            <a:ext cx="3840480" cy="987552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4864608" y="3712464"/>
            <a:ext cx="3730752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tracepoint:sched:sched_stat_runtime 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printf("%lu %-20s %d %lu\n",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nsecs, comm, pid, args-&gt;runtime); 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/ 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365760" y="1188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EVALUATION — PART 1: CONTROLLED FAULTS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365760" y="4114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Experiments 1, 2 &amp; 4 — Baseline, Delay, Bandwidth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320040" y="1005840"/>
            <a:ext cx="1993392" cy="109728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320040" y="1143000"/>
            <a:ext cx="1993392" cy="6035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2.0ms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320040" y="1664208"/>
            <a:ext cx="1993392" cy="416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Baseline Mean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(n=48, σ=0.4ms)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2450592" y="1005840"/>
            <a:ext cx="1993392" cy="109728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2450592" y="1143000"/>
            <a:ext cx="1993392" cy="6035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402.5ms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2450592" y="1664208"/>
            <a:ext cx="1993392" cy="416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200ms Delay Mean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(n=37, σ=0.7ms)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4581144" y="1005840"/>
            <a:ext cx="1993392" cy="109728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4581144" y="1143000"/>
            <a:ext cx="1993392" cy="6035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4581144" y="1664208"/>
            <a:ext cx="1993392" cy="416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Retransmissions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(delay ≠ loss confirmed)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6711696" y="1005840"/>
            <a:ext cx="1993392" cy="109728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6711696" y="1143000"/>
            <a:ext cx="1993392" cy="6035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2.1ms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6711696" y="1664208"/>
            <a:ext cx="1993392" cy="416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1mbit BW Mean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(small payloads unaffected)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320050" y="2286000"/>
            <a:ext cx="4023300" cy="17583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457175" y="2434590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200ms Delay — Deterministic Result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457175" y="2962198"/>
            <a:ext cx="3749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tc netem delay 200ms on web pod veth interface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Round-trip = 2 × 200ms + 2ms baseline ≈ 402ms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All 37 samples within 401–405ms band  (σ = 0.7ms)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4663450" y="2286000"/>
            <a:ext cx="4114800" cy="17583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4892100" y="2395502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1mbit Bandwidth Cap — Latency vs Throughput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4892100" y="2962200"/>
            <a:ext cx="37491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Small HTTP responses (~850 bytes) still complete in ~2ms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 single packet fits in the burst window before rate limiter engages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Large file transfers capped to ~125 KB/s (1mbit ÷ 8)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320040" y="4537115"/>
            <a:ext cx="8503800" cy="347400"/>
          </a:xfrm>
          <a:prstGeom prst="rect">
            <a:avLst/>
          </a:prstGeom>
          <a:solidFill>
            <a:srgbClr val="0D2E4A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457200" y="4573741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Key insight: </a:t>
            </a: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Bandwidth caps affect throughput, not latency. A latency alert from a bandwidth-capped service means large payloads — not the API response time itself.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/ 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50" y="642974"/>
            <a:ext cx="8503900" cy="368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365760" y="1188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EVALUATION — EXPERIMENT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365760" y="4114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20% Packet Loss — TCP Retransmit Backoff Tiers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320040" y="1005840"/>
            <a:ext cx="2651760" cy="10058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320040" y="1143000"/>
            <a:ext cx="265176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409ms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320040" y="1609344"/>
            <a:ext cx="2651760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Mean latency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(vs 2ms baseline)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3154680" y="1005840"/>
            <a:ext cx="2651760" cy="10058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3154680" y="1143000"/>
            <a:ext cx="265176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25 / 11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3154680" y="1609344"/>
            <a:ext cx="2651760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Clean / Backoff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samples (n=36)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5989320" y="1005840"/>
            <a:ext cx="2651760" cy="10058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989320" y="1143000"/>
            <a:ext cx="265176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5989320" y="1609344"/>
            <a:ext cx="2651760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TCP RTO tiers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observable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320061" y="2148850"/>
            <a:ext cx="8321100" cy="26976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457200" y="222199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TCP Exponential Backoff — How It Works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457200" y="2606040"/>
            <a:ext cx="1005840" cy="530352"/>
          </a:xfrm>
          <a:prstGeom prst="rect">
            <a:avLst/>
          </a:prstGeom>
          <a:solidFill>
            <a:srgbClr val="2D1A10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457200" y="2606040"/>
            <a:ext cx="1005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~200ms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2402368" y="2667761"/>
            <a:ext cx="2651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1st RTO — TCP waits 200ms then retries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457200" y="3291840"/>
            <a:ext cx="1005840" cy="530352"/>
          </a:xfrm>
          <a:prstGeom prst="rect">
            <a:avLst/>
          </a:prstGeom>
          <a:solidFill>
            <a:srgbClr val="2D1A10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57200" y="3291840"/>
            <a:ext cx="1005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~1000ms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2402368" y="3342986"/>
            <a:ext cx="2651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2nd RTO — doubles to ~1000ms on 2nd loss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457200" y="3977640"/>
            <a:ext cx="1005840" cy="530352"/>
          </a:xfrm>
          <a:prstGeom prst="rect">
            <a:avLst/>
          </a:prstGeom>
          <a:solidFill>
            <a:srgbClr val="2D1A10"/>
          </a:solidFill>
          <a:ln cap="flat" cmpd="sng" w="12700">
            <a:solidFill>
              <a:srgbClr val="C8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457200" y="3977640"/>
            <a:ext cx="1005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3030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C83030"/>
                </a:solidFill>
                <a:latin typeface="Calibri"/>
                <a:ea typeface="Calibri"/>
                <a:cs typeface="Calibri"/>
                <a:sym typeface="Calibri"/>
              </a:rPr>
              <a:t>~2058ms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2402375" y="4018200"/>
            <a:ext cx="2703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3rd RTO — doubles again; matches kernel exactly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457200" y="468172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eBPF: </a:t>
            </a:r>
            <a:r>
              <a:rPr b="0" i="0" lang="en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tcp_retransmit_skb probe active throughout; bimodal shape alone confirms the backoff mechanism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/ 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3" name="Google Shape;23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150" y="239975"/>
            <a:ext cx="7958125" cy="466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365760" y="1188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EVALUATION — EXPERIMENT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365760" y="4114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25% Packet Reordering — Two Distinct Latency Tiers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320040" y="1005840"/>
            <a:ext cx="2651760" cy="10058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320040" y="1143000"/>
            <a:ext cx="265176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188ms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320040" y="1609344"/>
            <a:ext cx="2651760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Mean latency (n=42)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3154680" y="1005840"/>
            <a:ext cx="2651760" cy="10058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3154680" y="1143000"/>
            <a:ext cx="265176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36 / 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3154680" y="1609344"/>
            <a:ext cx="2651760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~202ms / ~102ms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samples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989320" y="1005840"/>
            <a:ext cx="2651760" cy="10058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5989320" y="1143000"/>
            <a:ext cx="265176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989320" y="1609344"/>
            <a:ext cx="2651760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Retransmit events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(reorder ≠ loss)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320061" y="2148850"/>
            <a:ext cx="8321100" cy="26976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457200" y="222199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Why Two Tiers Appear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457200" y="2578600"/>
            <a:ext cx="7506900" cy="17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tc netem reorder 25% gap 1 delay 100ms applied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100ms base delay on all packets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25% of packets arrive out of order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Out-of-order delivery triggers TCP duplicate ACKs → fast-retransmit fires in ~102ms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Normal path: waits full 100ms delay → arrives at ~202ms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548649" y="4367600"/>
            <a:ext cx="7861200" cy="3474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643850" y="4413300"/>
            <a:ext cx="776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Zero retransmit events </a:t>
            </a:r>
            <a:r>
              <a:rPr b="0" i="0" lang="en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 tcp_retransmit_skb log — fast-retransmit is not the same code path as RTO retransmit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1" name="Google Shape;2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949" y="92638"/>
            <a:ext cx="7555427" cy="495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365760" y="1188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EVALUATION — SUMMARY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365760" y="4114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Fault Injection Results — All 5 Experiments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51" y="960125"/>
            <a:ext cx="4825024" cy="31089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1" name="Google Shape;271;p25"/>
          <p:cNvGraphicFramePr/>
          <p:nvPr/>
        </p:nvGraphicFramePr>
        <p:xfrm>
          <a:off x="533991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{D9A8B85D-756C-4917-A251-791E0DE55E5C}</a:tableStyleId>
              </a:tblPr>
              <a:tblGrid>
                <a:gridCol w="1186850"/>
                <a:gridCol w="791250"/>
                <a:gridCol w="692325"/>
                <a:gridCol w="1087950"/>
              </a:tblGrid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Fault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E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E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σ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E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eBPF Confirm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E4A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2.0ms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0.4ms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retrans, 0 drops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200ms Delay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402.5ms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0.7ms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retrans — delay ≠ loss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20% Loss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409.2ms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478ms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Bimodal, 3 RTO tiers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1mbit BW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2.1ms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0.7ms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retrans; BW cap only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Reorder 25%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188.1ms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35.5ms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retrans; 2-tier split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</a:tr>
            </a:tbl>
          </a:graphicData>
        </a:graphic>
      </p:graphicFrame>
      <p:sp>
        <p:nvSpPr>
          <p:cNvPr id="272" name="Google Shape;272;p25"/>
          <p:cNvSpPr/>
          <p:nvPr/>
        </p:nvSpPr>
        <p:spPr>
          <a:xfrm>
            <a:off x="365760" y="4160520"/>
            <a:ext cx="8412480" cy="804672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548640" y="420624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Every fault produces a distinct latency pattern: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Flat high band (delay)  ·  Bimodal with RTO tiers (loss)  ·  Two-tier split (reorder)  ·  Near-baseline (small payload + BW cap)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 / 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365760" y="1188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PART 2 — REAL-WORLD DEBUGGING MODULE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365760" y="4114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Unknown Causes — eBPF Must Find the Root Cause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548640" y="1033272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No tc netem rules. No announced faults. </a:t>
            </a: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An operator sees a latency alert and must diagnose the cause using only eBPF evidence — exactly like a real production incident.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365750" y="1965951"/>
            <a:ext cx="3931800" cy="21819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365760" y="1965960"/>
            <a:ext cx="3931920" cy="365760"/>
          </a:xfrm>
          <a:prstGeom prst="rect">
            <a:avLst/>
          </a:prstGeom>
          <a:solidFill>
            <a:srgbClr val="3D2A10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457200" y="1984248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Scenario A — CPU Noise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502845" y="2185428"/>
            <a:ext cx="36576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stress-ng --cpu 4 run on the KIND node via docker exec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Saturates 4 CPU cores — no tc rules touched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Operator sees: latency HIGH, highly variable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Challenge: find the cause using only eBPF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4663450" y="1965951"/>
            <a:ext cx="3931800" cy="22314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6"/>
          <p:cNvSpPr/>
          <p:nvPr/>
        </p:nvSpPr>
        <p:spPr>
          <a:xfrm>
            <a:off x="4663440" y="1965960"/>
            <a:ext cx="3931920" cy="365760"/>
          </a:xfrm>
          <a:prstGeom prst="rect">
            <a:avLst/>
          </a:prstGeom>
          <a:solidFill>
            <a:srgbClr val="0A2D3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4754880" y="1984248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Scenario B — App Delay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4800600" y="2136178"/>
            <a:ext cx="36576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Web pod patched to Python server with time.sleep(0.2)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Simulates slow DB query / middleware call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Operator sees: latency HIGH, stable ~200ms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Challenge: find the cause using only eBPF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320000" y="4352599"/>
            <a:ext cx="8412600" cy="5394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457245" y="4466904"/>
            <a:ext cx="8138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Diagnosis approach: </a:t>
            </a:r>
            <a:r>
              <a:rPr b="0" i="0" lang="en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Retransmissions zero? → not loss.   Drops zero? → not tc netem.   Scheduler HIGH + stress-ng visible? → CPU.   Scheduler normal + stable 200ms floor? → app code.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/ 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365760" y="1188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REAL-WORLD — SCENARIO 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/>
          <p:nvPr/>
        </p:nvSpPr>
        <p:spPr>
          <a:xfrm>
            <a:off x="365760" y="4114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CPU Noise: Scheduler Trace Identifies the Culprit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320040" y="987552"/>
            <a:ext cx="1993392" cy="10058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320040" y="1124712"/>
            <a:ext cx="1993392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35.8ms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320040" y="1591056"/>
            <a:ext cx="1993392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Baseline mean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(10 samples)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7"/>
          <p:cNvSpPr/>
          <p:nvPr/>
        </p:nvSpPr>
        <p:spPr>
          <a:xfrm>
            <a:off x="2450592" y="987552"/>
            <a:ext cx="1993392" cy="10058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7"/>
          <p:cNvSpPr/>
          <p:nvPr/>
        </p:nvSpPr>
        <p:spPr>
          <a:xfrm>
            <a:off x="2450592" y="1124712"/>
            <a:ext cx="1993392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121ms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7"/>
          <p:cNvSpPr/>
          <p:nvPr/>
        </p:nvSpPr>
        <p:spPr>
          <a:xfrm>
            <a:off x="2450592" y="1591056"/>
            <a:ext cx="1993392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CPU noise mean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(15 samples)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7"/>
          <p:cNvSpPr/>
          <p:nvPr/>
        </p:nvSpPr>
        <p:spPr>
          <a:xfrm>
            <a:off x="4581144" y="987552"/>
            <a:ext cx="1993392" cy="10058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7"/>
          <p:cNvSpPr/>
          <p:nvPr/>
        </p:nvSpPr>
        <p:spPr>
          <a:xfrm>
            <a:off x="4581144" y="1124712"/>
            <a:ext cx="1993392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278ms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4581144" y="1591056"/>
            <a:ext cx="1993392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Std deviation 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(high jitter)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"/>
          <p:cNvSpPr/>
          <p:nvPr/>
        </p:nvSpPr>
        <p:spPr>
          <a:xfrm>
            <a:off x="6711696" y="987552"/>
            <a:ext cx="1993392" cy="10058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7"/>
          <p:cNvSpPr/>
          <p:nvPr/>
        </p:nvSpPr>
        <p:spPr>
          <a:xfrm>
            <a:off x="6711696" y="1124712"/>
            <a:ext cx="1993392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292s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7"/>
          <p:cNvSpPr/>
          <p:nvPr/>
        </p:nvSpPr>
        <p:spPr>
          <a:xfrm>
            <a:off x="6711696" y="1591056"/>
            <a:ext cx="1993392" cy="382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stress-ng CPU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 90s experiment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7"/>
          <p:cNvSpPr/>
          <p:nvPr/>
        </p:nvSpPr>
        <p:spPr>
          <a:xfrm>
            <a:off x="320025" y="2121400"/>
            <a:ext cx="8503800" cy="18567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7"/>
          <p:cNvSpPr/>
          <p:nvPr/>
        </p:nvSpPr>
        <p:spPr>
          <a:xfrm>
            <a:off x="579863" y="2267160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What the scheduler log shows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7"/>
          <p:cNvSpPr/>
          <p:nvPr/>
        </p:nvSpPr>
        <p:spPr>
          <a:xfrm>
            <a:off x="642950" y="2523050"/>
            <a:ext cx="7491900" cy="14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734,033 total sched events captured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stress-ng-cpu: 72,804 events, 292s CPU time — highest of any single process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Ran on multiple cores (4 workers × 90s = 360s max; 292s observed)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Zero retransmissions, zero drops → network ruled 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7"/>
          <p:cNvSpPr/>
          <p:nvPr/>
        </p:nvSpPr>
        <p:spPr>
          <a:xfrm>
            <a:off x="320040" y="4274968"/>
            <a:ext cx="8503800" cy="4572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7"/>
          <p:cNvSpPr/>
          <p:nvPr/>
        </p:nvSpPr>
        <p:spPr>
          <a:xfrm>
            <a:off x="411450" y="4311569"/>
            <a:ext cx="8321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Diagnosis: </a:t>
            </a:r>
            <a:r>
              <a:rPr b="0" i="0" lang="en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Retransmits = 0. Drops = 0. stress-ng-cpu dominates scheduler. High σ = scheduling jitter.</a:t>
            </a:r>
            <a:r>
              <a:rPr b="1" i="0" lang="en" sz="115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  → Root cause: CPU contention from noisy neighbour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7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 / 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7" name="Google Shape;32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50" y="416025"/>
            <a:ext cx="8151573" cy="4377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9"/>
          <p:cNvSpPr/>
          <p:nvPr/>
        </p:nvSpPr>
        <p:spPr>
          <a:xfrm>
            <a:off x="365760" y="1188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REAL-WORLD — SCENARIOS A VS 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9"/>
          <p:cNvSpPr/>
          <p:nvPr/>
        </p:nvSpPr>
        <p:spPr>
          <a:xfrm>
            <a:off x="365760" y="4114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CPU Noise vs App Delay — Same Symptom, Different Cause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548625" y="960125"/>
            <a:ext cx="4784100" cy="31548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9"/>
          <p:cNvSpPr/>
          <p:nvPr/>
        </p:nvSpPr>
        <p:spPr>
          <a:xfrm>
            <a:off x="1498075" y="1033272"/>
            <a:ext cx="297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eBPF Elimination Chain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8" name="Google Shape;338;p29"/>
          <p:cNvGraphicFramePr/>
          <p:nvPr/>
        </p:nvGraphicFramePr>
        <p:xfrm>
          <a:off x="819492" y="136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{D9A8B85D-756C-4917-A251-791E0DE55E5C}</a:tableStyleId>
              </a:tblPr>
              <a:tblGrid>
                <a:gridCol w="1577825"/>
                <a:gridCol w="1262250"/>
                <a:gridCol w="1262250"/>
              </a:tblGrid>
              <a:tr h="37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E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731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973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 Noise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E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 Delay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E4A"/>
                    </a:solidFill>
                  </a:tcPr>
                </a:tc>
              </a:tr>
              <a:tr h="37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TCP Retrans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</a:tr>
              <a:tr h="37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Pkt Drops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</a:tr>
              <a:tr h="37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Sched events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72k HIGH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</a:tr>
              <a:tr h="37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Jitter (σ)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278ms HIGH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103ms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</a:tr>
              <a:tr h="37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Stable floor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(3ms min)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 (201ms)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</a:tr>
              <a:tr h="37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ROOT CAUSE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731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973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 noise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 code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4"/>
                    </a:solidFill>
                  </a:tcPr>
                </a:tc>
              </a:tr>
            </a:tbl>
          </a:graphicData>
        </a:graphic>
      </p:graphicFrame>
      <p:sp>
        <p:nvSpPr>
          <p:cNvPr id="339" name="Google Shape;339;p29"/>
          <p:cNvSpPr/>
          <p:nvPr/>
        </p:nvSpPr>
        <p:spPr>
          <a:xfrm>
            <a:off x="365760" y="4206240"/>
            <a:ext cx="8412480" cy="7772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9"/>
          <p:cNvSpPr/>
          <p:nvPr/>
        </p:nvSpPr>
        <p:spPr>
          <a:xfrm>
            <a:off x="548640" y="426110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The critical discriminator: jitter (σ)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9"/>
          <p:cNvSpPr/>
          <p:nvPr/>
        </p:nvSpPr>
        <p:spPr>
          <a:xfrm>
            <a:off x="548640" y="4517136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CPU noise σ = 278ms  vs  App delay σ = 103ms.  </a:t>
            </a:r>
            <a:r>
              <a:rPr b="1" i="0" lang="en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2.7× more jitter → scheduling cause, not stable app code. </a:t>
            </a:r>
            <a:r>
              <a:rPr b="0" i="0" lang="en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Combined with stress-ng in scheduler trace, root cause identified without prior knowledge.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9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 / 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7" name="Google Shape;34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475" y="264750"/>
            <a:ext cx="8190999" cy="411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97452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2"/>
          <p:cNvSpPr/>
          <p:nvPr/>
        </p:nvSpPr>
        <p:spPr>
          <a:xfrm>
            <a:off x="365760" y="1188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OUTCOMES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2"/>
          <p:cNvSpPr/>
          <p:nvPr/>
        </p:nvSpPr>
        <p:spPr>
          <a:xfrm>
            <a:off x="365760" y="4114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 Achieved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2"/>
          <p:cNvSpPr/>
          <p:nvPr/>
        </p:nvSpPr>
        <p:spPr>
          <a:xfrm>
            <a:off x="320040" y="1051560"/>
            <a:ext cx="2743200" cy="14630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2"/>
          <p:cNvSpPr/>
          <p:nvPr/>
        </p:nvSpPr>
        <p:spPr>
          <a:xfrm>
            <a:off x="429768" y="1188720"/>
            <a:ext cx="457200" cy="45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2"/>
          <p:cNvSpPr/>
          <p:nvPr/>
        </p:nvSpPr>
        <p:spPr>
          <a:xfrm>
            <a:off x="429768" y="1188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2"/>
          <p:cNvSpPr/>
          <p:nvPr/>
        </p:nvSpPr>
        <p:spPr>
          <a:xfrm>
            <a:off x="1005840" y="1143000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Dynamic veth detection fixed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2"/>
          <p:cNvSpPr/>
          <p:nvPr/>
        </p:nvSpPr>
        <p:spPr>
          <a:xfrm>
            <a:off x="1005840" y="1508760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All 5 fault injections work across cluster restarts. Core bug from initial submission fully resolved.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2"/>
          <p:cNvSpPr/>
          <p:nvPr/>
        </p:nvSpPr>
        <p:spPr>
          <a:xfrm>
            <a:off x="3246120" y="1051560"/>
            <a:ext cx="2743200" cy="14630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2"/>
          <p:cNvSpPr/>
          <p:nvPr/>
        </p:nvSpPr>
        <p:spPr>
          <a:xfrm>
            <a:off x="3355848" y="1188720"/>
            <a:ext cx="457200" cy="45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2"/>
          <p:cNvSpPr/>
          <p:nvPr/>
        </p:nvSpPr>
        <p:spPr>
          <a:xfrm>
            <a:off x="3355848" y="1188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2"/>
          <p:cNvSpPr/>
          <p:nvPr/>
        </p:nvSpPr>
        <p:spPr>
          <a:xfrm>
            <a:off x="3931920" y="1143000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5 distinct latency signatures verified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2"/>
          <p:cNvSpPr/>
          <p:nvPr/>
        </p:nvSpPr>
        <p:spPr>
          <a:xfrm>
            <a:off x="3931920" y="1508760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Flat band (delay) · Bimodal/RTO tiers (loss) · Two-tier (reorder) · Baseline (BW small) · High jitter (CPU)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2"/>
          <p:cNvSpPr/>
          <p:nvPr/>
        </p:nvSpPr>
        <p:spPr>
          <a:xfrm>
            <a:off x="6172200" y="1051560"/>
            <a:ext cx="2743200" cy="14630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2"/>
          <p:cNvSpPr/>
          <p:nvPr/>
        </p:nvSpPr>
        <p:spPr>
          <a:xfrm>
            <a:off x="6281928" y="1188720"/>
            <a:ext cx="457200" cy="45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2"/>
          <p:cNvSpPr/>
          <p:nvPr/>
        </p:nvSpPr>
        <p:spPr>
          <a:xfrm>
            <a:off x="6281928" y="1188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2"/>
          <p:cNvSpPr/>
          <p:nvPr/>
        </p:nvSpPr>
        <p:spPr>
          <a:xfrm>
            <a:off x="6858000" y="1143000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eBPF confirms kernel cause for every experiment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2"/>
          <p:cNvSpPr/>
          <p:nvPr/>
        </p:nvSpPr>
        <p:spPr>
          <a:xfrm>
            <a:off x="6858000" y="1508760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Drop reason 82 = tc netem. Zero retransmits = no loss. 72k stress-ng events + 292s CPU = CPU contention.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2"/>
          <p:cNvSpPr/>
          <p:nvPr/>
        </p:nvSpPr>
        <p:spPr>
          <a:xfrm>
            <a:off x="320040" y="2697480"/>
            <a:ext cx="3977640" cy="14630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2"/>
          <p:cNvSpPr/>
          <p:nvPr/>
        </p:nvSpPr>
        <p:spPr>
          <a:xfrm>
            <a:off x="429768" y="2834640"/>
            <a:ext cx="457200" cy="45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2"/>
          <p:cNvSpPr/>
          <p:nvPr/>
        </p:nvSpPr>
        <p:spPr>
          <a:xfrm>
            <a:off x="429768" y="2834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2"/>
          <p:cNvSpPr/>
          <p:nvPr/>
        </p:nvSpPr>
        <p:spPr>
          <a:xfrm>
            <a:off x="1005840" y="278892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Root cause diagnosed without prior knowledge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2"/>
          <p:cNvSpPr/>
          <p:nvPr/>
        </p:nvSpPr>
        <p:spPr>
          <a:xfrm>
            <a:off x="1005840" y="315468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CPU noise and app-level slowness diagnosed from jitter σ, scheduler activity, and retransmit counts alone.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2"/>
          <p:cNvSpPr/>
          <p:nvPr/>
        </p:nvSpPr>
        <p:spPr>
          <a:xfrm>
            <a:off x="4434840" y="2697480"/>
            <a:ext cx="4389120" cy="146304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2"/>
          <p:cNvSpPr/>
          <p:nvPr/>
        </p:nvSpPr>
        <p:spPr>
          <a:xfrm>
            <a:off x="4544568" y="2834640"/>
            <a:ext cx="457200" cy="45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2"/>
          <p:cNvSpPr/>
          <p:nvPr/>
        </p:nvSpPr>
        <p:spPr>
          <a:xfrm>
            <a:off x="4544568" y="2834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2"/>
          <p:cNvSpPr/>
          <p:nvPr/>
        </p:nvSpPr>
        <p:spPr>
          <a:xfrm>
            <a:off x="5120640" y="2788920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Full automated pipeline — one command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2"/>
          <p:cNvSpPr/>
          <p:nvPr/>
        </p:nvSpPr>
        <p:spPr>
          <a:xfrm>
            <a:off x="5120640" y="3154680"/>
            <a:ext cx="3611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run_full_pipeline_extended.sh + run_real_world_pipeline.sh — reproducible, end-to-end, no manual steps.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2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 / 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3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3"/>
          <p:cNvSpPr/>
          <p:nvPr/>
        </p:nvSpPr>
        <p:spPr>
          <a:xfrm>
            <a:off x="365760" y="658368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eBPF Fills the Observability Gap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Standard tools report slow. eBPF explains why.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3"/>
          <p:cNvSpPr/>
          <p:nvPr/>
        </p:nvSpPr>
        <p:spPr>
          <a:xfrm>
            <a:off x="365760" y="1719072"/>
            <a:ext cx="4023360" cy="16002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3"/>
          <p:cNvSpPr/>
          <p:nvPr/>
        </p:nvSpPr>
        <p:spPr>
          <a:xfrm>
            <a:off x="502920" y="179222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Part 1 — Controlled Faults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3"/>
          <p:cNvSpPr/>
          <p:nvPr/>
        </p:nvSpPr>
        <p:spPr>
          <a:xfrm>
            <a:off x="502920" y="2103120"/>
            <a:ext cx="3749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5 fault types, 5 distinct signatures. Every pattern matches the kernel's known behaviour exactly. The cause-kernel-application chain is verified end-to-end.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3"/>
          <p:cNvSpPr/>
          <p:nvPr/>
        </p:nvSpPr>
        <p:spPr>
          <a:xfrm>
            <a:off x="4709160" y="1719072"/>
            <a:ext cx="4023360" cy="16002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3"/>
          <p:cNvSpPr/>
          <p:nvPr/>
        </p:nvSpPr>
        <p:spPr>
          <a:xfrm>
            <a:off x="4846320" y="179222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Part 2 — Unknown Causes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3"/>
          <p:cNvSpPr/>
          <p:nvPr/>
        </p:nvSpPr>
        <p:spPr>
          <a:xfrm>
            <a:off x="4846320" y="2103120"/>
            <a:ext cx="3749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CPU noise vs application delay — both elevated latency, different cause. eBPF eliminates wrong hypotheses and reaches the right diagnosis without prior knowledge.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3"/>
          <p:cNvSpPr/>
          <p:nvPr/>
        </p:nvSpPr>
        <p:spPr>
          <a:xfrm>
            <a:off x="365760" y="3474720"/>
            <a:ext cx="8412480" cy="932688"/>
          </a:xfrm>
          <a:prstGeom prst="rect">
            <a:avLst/>
          </a:prstGeom>
          <a:solidFill>
            <a:srgbClr val="0F2744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3"/>
          <p:cNvSpPr/>
          <p:nvPr/>
        </p:nvSpPr>
        <p:spPr>
          <a:xfrm>
            <a:off x="548640" y="354787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The core contribution: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3"/>
          <p:cNvSpPr/>
          <p:nvPr/>
        </p:nvSpPr>
        <p:spPr>
          <a:xfrm>
            <a:off x="548640" y="382219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 reproducible, automated pipeline that produces kernel-level evidence for every fault type, and a real-world debugging workflow that can identify an unknown cause from eBPF evidence alone — applicable directly to production incident diagnosis.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3"/>
          <p:cNvSpPr/>
          <p:nvPr/>
        </p:nvSpPr>
        <p:spPr>
          <a:xfrm>
            <a:off x="365760" y="471830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C7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096C7"/>
                </a:solidFill>
                <a:latin typeface="Calibri"/>
                <a:ea typeface="Calibri"/>
                <a:cs typeface="Calibri"/>
                <a:sym typeface="Calibri"/>
              </a:rPr>
              <a:t>https://github.com/adi620/G17_Kubernetes_observation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3"/>
          <p:cNvSpPr/>
          <p:nvPr/>
        </p:nvSpPr>
        <p:spPr>
          <a:xfrm>
            <a:off x="5029200" y="471830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G-17 · GRS 2026 · April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3"/>
          <p:cNvSpPr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 / 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4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4"/>
          <p:cNvSpPr/>
          <p:nvPr/>
        </p:nvSpPr>
        <p:spPr>
          <a:xfrm>
            <a:off x="650091" y="1682525"/>
            <a:ext cx="7843800" cy="1600200"/>
          </a:xfrm>
          <a:prstGeom prst="rect">
            <a:avLst/>
          </a:prstGeom>
          <a:solidFill>
            <a:srgbClr val="0F2744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5000">
                <a:solidFill>
                  <a:schemeClr val="lt1"/>
                </a:solidFill>
              </a:rPr>
              <a:t>THANK YOU!</a:t>
            </a:r>
            <a:endParaRPr b="0" i="0" sz="5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4"/>
          <p:cNvSpPr/>
          <p:nvPr/>
        </p:nvSpPr>
        <p:spPr>
          <a:xfrm>
            <a:off x="0" y="4663440"/>
            <a:ext cx="9144000" cy="480000"/>
          </a:xfrm>
          <a:prstGeom prst="rect">
            <a:avLst/>
          </a:prstGeom>
          <a:solidFill>
            <a:srgbClr val="0814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4"/>
          <p:cNvSpPr/>
          <p:nvPr/>
        </p:nvSpPr>
        <p:spPr>
          <a:xfrm>
            <a:off x="365760" y="4718304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C7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0096C7"/>
                </a:solidFill>
                <a:latin typeface="Calibri"/>
                <a:ea typeface="Calibri"/>
                <a:cs typeface="Calibri"/>
                <a:sym typeface="Calibri"/>
              </a:rPr>
              <a:t>https://github.com/adi620/G17_Kubernetes_observation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4"/>
          <p:cNvSpPr/>
          <p:nvPr/>
        </p:nvSpPr>
        <p:spPr>
          <a:xfrm>
            <a:off x="5029200" y="4718304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G-17 · GRS 2026 · April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4"/>
          <p:cNvSpPr/>
          <p:nvPr/>
        </p:nvSpPr>
        <p:spPr>
          <a:xfrm>
            <a:off x="8503920" y="4892040"/>
            <a:ext cx="594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 / 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